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lvl="0">
      <a:defRPr lang="en-US"/>
    </a:defPPr>
    <a:lvl1pPr lvl="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lvl="1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lvl="2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lvl="3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lvl="4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lvl="5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lvl="6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lvl="7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lvl="8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-86" y="-82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0" name="Google Shape;18630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1" name="Google Shape;18631;p1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32" name="Google Shape;18632;p1"/>
          <p:cNvPicPr preferRelativeResize="0"/>
          <p:nvPr/>
        </p:nvPicPr>
        <p:blipFill rotWithShape="1">
          <a:blip r:embed="rId2">
            <a:alphaModFix/>
          </a:blip>
          <a:srcRect r="59917"/>
          <a:stretch/>
        </p:blipFill>
        <p:spPr>
          <a:xfrm>
            <a:off x="6854891" y="1715881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18633" name="Google Shape;18633;p1"/>
          <p:cNvSpPr txBox="1"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34" name="Google Shape;18634;p1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Garamond"/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635" name="Google Shape;18635;p1"/>
          <p:cNvSpPr txBox="1"/>
          <p:nvPr/>
        </p:nvSpPr>
        <p:spPr>
          <a:xfrm>
            <a:off x="357775" y="1618525"/>
            <a:ext cx="6497100" cy="4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SIH26036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 Development of an Online Verification System for Weighing and Measuring Instruments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Miscellaneous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ID- 143309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Name- Byte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Optima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36" name="Google Shape;1863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6" cy="1062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1" name="Google Shape;18541;p2"/>
          <p:cNvSpPr txBox="1"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sp>
        <p:nvSpPr>
          <p:cNvPr id="18542" name="Google Shape;18542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swald"/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Oswald"/>
                <a:buNone/>
              </a:p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8543" name="Google Shape;18543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swald"/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544" name="Google Shape;18544;p2" descr="Your startup LOGO"/>
          <p:cNvSpPr/>
          <p:nvPr/>
        </p:nvSpPr>
        <p:spPr>
          <a:xfrm>
            <a:off x="329775" y="252250"/>
            <a:ext cx="18978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ByteOptima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45" name="Google Shape;1854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6" cy="1062340"/>
          </a:xfrm>
          <a:prstGeom prst="rect">
            <a:avLst/>
          </a:prstGeom>
          <a:noFill/>
          <a:ln>
            <a:noFill/>
          </a:ln>
        </p:spPr>
      </p:pic>
      <p:sp>
        <p:nvSpPr>
          <p:cNvPr id="18546" name="Google Shape;18546;p2"/>
          <p:cNvSpPr txBox="1"/>
          <p:nvPr/>
        </p:nvSpPr>
        <p:spPr>
          <a:xfrm>
            <a:off x="548640" y="1444752"/>
            <a:ext cx="10972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84473"/>
                </a:solidFill>
                <a:latin typeface="Arial"/>
                <a:ea typeface="Arial"/>
                <a:cs typeface="Arial"/>
                <a:sym typeface="Arial"/>
              </a:rPr>
              <a:t>UNIFIED LEGAL METROLOGY DIGITAL ECOSYSTEM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7" name="Google Shape;18547;p2"/>
          <p:cNvSpPr txBox="1"/>
          <p:nvPr/>
        </p:nvSpPr>
        <p:spPr>
          <a:xfrm>
            <a:off x="914400" y="1856231"/>
            <a:ext cx="10332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36D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5A636D"/>
                </a:solidFill>
                <a:latin typeface="Arial"/>
                <a:ea typeface="Arial"/>
                <a:cs typeface="Arial"/>
                <a:sym typeface="Arial"/>
              </a:rPr>
              <a:t>One platform connecting instrument users, LMOs/GATCs, administrators and citizens through a single verification lifecycle.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8" name="Google Shape;18548;p2"/>
          <p:cNvSpPr/>
          <p:nvPr/>
        </p:nvSpPr>
        <p:spPr>
          <a:xfrm>
            <a:off x="502920" y="2331720"/>
            <a:ext cx="3520500" cy="2788800"/>
          </a:xfrm>
          <a:prstGeom prst="roundRect">
            <a:avLst>
              <a:gd name="adj" fmla="val 16667"/>
            </a:avLst>
          </a:prstGeom>
          <a:solidFill>
            <a:srgbClr val="F1F7FB"/>
          </a:solidFill>
          <a:ln w="16500" cap="flat" cmpd="sng">
            <a:solidFill>
              <a:srgbClr val="0069B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27000" tIns="88900" rIns="127000" bIns="76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1600"/>
              <a:buFont typeface="Play"/>
              <a:buNone/>
            </a:pPr>
            <a:r>
              <a:rPr lang="en-US" sz="1600" b="1" i="0" u="none" strike="noStrike" cap="none">
                <a:solidFill>
                  <a:srgbClr val="184473"/>
                </a:solidFill>
                <a:latin typeface="Play"/>
                <a:ea typeface="Play"/>
                <a:cs typeface="Play"/>
                <a:sym typeface="Play"/>
              </a:rPr>
              <a:t>1. REGISTER &amp; APPLY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Stakeholder onboarding</a:t>
            </a:r>
            <a:endParaRPr sz="1600" b="0" i="0" u="none" strike="noStrike" cap="none">
              <a:solidFill>
                <a:srgbClr val="232B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Instrument registration / records</a:t>
            </a:r>
            <a:endParaRPr sz="1600" b="0" i="0" u="none" strike="noStrike" cap="none">
              <a:solidFill>
                <a:srgbClr val="232B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Verification &amp; re-verification application</a:t>
            </a:r>
            <a:endParaRPr sz="1600" b="0" i="0" u="none" strike="noStrike" cap="none">
              <a:solidFill>
                <a:srgbClr val="232B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Documents + photographs</a:t>
            </a:r>
            <a:endParaRPr sz="1600" b="0" i="0" u="none" strike="noStrike" cap="none">
              <a:solidFill>
                <a:srgbClr val="232B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Status tracking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9" name="Google Shape;18549;p2"/>
          <p:cNvSpPr/>
          <p:nvPr/>
        </p:nvSpPr>
        <p:spPr>
          <a:xfrm>
            <a:off x="4315968" y="2331720"/>
            <a:ext cx="3520500" cy="278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500" cap="flat" cmpd="sng">
            <a:solidFill>
              <a:srgbClr val="23916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27000" tIns="88900" rIns="127000" bIns="76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1600"/>
              <a:buFont typeface="Play"/>
              <a:buNone/>
            </a:pPr>
            <a:r>
              <a:rPr lang="en-US" sz="1600" b="1" i="0" u="none" strike="noStrike" cap="none">
                <a:solidFill>
                  <a:srgbClr val="184473"/>
                </a:solidFill>
                <a:latin typeface="Play"/>
                <a:ea typeface="Play"/>
                <a:cs typeface="Play"/>
                <a:sym typeface="Play"/>
              </a:rPr>
              <a:t>2. VERIFY &amp; CERTIFY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Officer/GATC allocation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Scheduling + field inspection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Digital observations &amp; evidence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Digital certificate generation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Cryptographically verifiable QR 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0" name="Google Shape;18550;p2"/>
          <p:cNvSpPr/>
          <p:nvPr/>
        </p:nvSpPr>
        <p:spPr>
          <a:xfrm>
            <a:off x="8129016" y="2331720"/>
            <a:ext cx="3520500" cy="2788800"/>
          </a:xfrm>
          <a:prstGeom prst="roundRect">
            <a:avLst>
              <a:gd name="adj" fmla="val 16667"/>
            </a:avLst>
          </a:prstGeom>
          <a:solidFill>
            <a:srgbClr val="F1F7FB"/>
          </a:solidFill>
          <a:ln w="16500" cap="flat" cmpd="sng">
            <a:solidFill>
              <a:srgbClr val="18447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27000" tIns="88900" rIns="127000" bIns="76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1600"/>
              <a:buFont typeface="Play"/>
              <a:buNone/>
            </a:pPr>
            <a:r>
              <a:rPr lang="en-US" sz="1600" b="1" i="0" u="none" strike="noStrike" cap="none">
                <a:solidFill>
                  <a:srgbClr val="184473"/>
                </a:solidFill>
                <a:latin typeface="Play"/>
                <a:ea typeface="Play"/>
                <a:cs typeface="Play"/>
                <a:sym typeface="Play"/>
              </a:rPr>
              <a:t>3. MONITOR &amp; ENFORCE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Validity / expiry alerts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Dashboards + analytics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Searchable lifecycle history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Consumer suspected-violation reports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Evidence-linked enforcement workflow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1" name="Google Shape;18551;p2"/>
          <p:cNvSpPr/>
          <p:nvPr/>
        </p:nvSpPr>
        <p:spPr>
          <a:xfrm>
            <a:off x="1044000" y="5454936"/>
            <a:ext cx="10104000" cy="567000"/>
          </a:xfrm>
          <a:prstGeom prst="roundRect">
            <a:avLst>
              <a:gd name="adj" fmla="val 16667"/>
            </a:avLst>
          </a:prstGeom>
          <a:solidFill>
            <a:srgbClr val="E7F2F9"/>
          </a:solidFill>
          <a:ln w="9525" cap="flat" cmpd="sng">
            <a:solidFill>
              <a:srgbClr val="299B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84473"/>
                </a:solidFill>
                <a:latin typeface="Arial"/>
                <a:ea typeface="Arial"/>
                <a:cs typeface="Arial"/>
                <a:sym typeface="Arial"/>
              </a:rPr>
              <a:t>Innovation layer: official digital identities + instrument QR + consumer reporting + immutable audit trail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3" name="Google Shape;18553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8554" name="Google Shape;1855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swald"/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Oswald"/>
                <a:buNone/>
              </a:p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8555" name="Google Shape;18555;p3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swald"/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8556" name="Google Shape;1855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6" cy="1062340"/>
          </a:xfrm>
          <a:prstGeom prst="rect">
            <a:avLst/>
          </a:prstGeom>
          <a:noFill/>
          <a:ln>
            <a:noFill/>
          </a:ln>
        </p:spPr>
      </p:pic>
      <p:sp>
        <p:nvSpPr>
          <p:cNvPr id="18557" name="Google Shape;18557;p3"/>
          <p:cNvSpPr txBox="1"/>
          <p:nvPr/>
        </p:nvSpPr>
        <p:spPr>
          <a:xfrm>
            <a:off x="685800" y="1353312"/>
            <a:ext cx="10789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84473"/>
                </a:solidFill>
                <a:latin typeface="Arial"/>
                <a:ea typeface="Arial"/>
                <a:cs typeface="Arial"/>
                <a:sym typeface="Arial"/>
              </a:rPr>
              <a:t>END-TO-END DIGITAL WORKFLOW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8" name="Google Shape;18558;p3"/>
          <p:cNvSpPr txBox="1"/>
          <p:nvPr/>
        </p:nvSpPr>
        <p:spPr>
          <a:xfrm>
            <a:off x="822960" y="1755648"/>
            <a:ext cx="10561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36D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A636D"/>
                </a:solidFill>
                <a:latin typeface="Arial"/>
                <a:ea typeface="Arial"/>
                <a:cs typeface="Arial"/>
                <a:sym typeface="Arial"/>
              </a:rPr>
              <a:t>Technical approach: role-based workflow + secure evidence + offline-capable field operations + real-time status.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59" name="Google Shape;18559;p3"/>
          <p:cNvGrpSpPr/>
          <p:nvPr/>
        </p:nvGrpSpPr>
        <p:grpSpPr>
          <a:xfrm>
            <a:off x="562230" y="2359152"/>
            <a:ext cx="11082660" cy="1417200"/>
            <a:chOff x="320040" y="2359152"/>
            <a:chExt cx="11082660" cy="1417200"/>
          </a:xfrm>
        </p:grpSpPr>
        <p:sp>
          <p:nvSpPr>
            <p:cNvPr id="18560" name="Google Shape;18560;p3"/>
            <p:cNvSpPr/>
            <p:nvPr/>
          </p:nvSpPr>
          <p:spPr>
            <a:xfrm>
              <a:off x="320040" y="2359152"/>
              <a:ext cx="1572900" cy="1417200"/>
            </a:xfrm>
            <a:prstGeom prst="roundRect">
              <a:avLst>
                <a:gd name="adj" fmla="val 16667"/>
              </a:avLst>
            </a:prstGeom>
            <a:solidFill>
              <a:srgbClr val="F1F7FB"/>
            </a:solidFill>
            <a:ln w="16500" cap="flat" cmpd="sng">
              <a:solidFill>
                <a:srgbClr val="0069B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7000" tIns="88900" rIns="127000" bIns="762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84473"/>
                </a:buClr>
                <a:buSzPts val="1400"/>
                <a:buFont typeface="Play"/>
                <a:buNone/>
              </a:pPr>
              <a:r>
                <a:rPr lang="en-US" sz="1400" b="1" i="0" u="none" strike="noStrike" cap="none">
                  <a:solidFill>
                    <a:srgbClr val="184473"/>
                  </a:solidFill>
                  <a:latin typeface="Play"/>
                  <a:ea typeface="Play"/>
                  <a:cs typeface="Play"/>
                  <a:sym typeface="Play"/>
                </a:rPr>
                <a:t>USER / BUSINESS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300"/>
                </a:spcBef>
                <a:spcAft>
                  <a:spcPts val="0"/>
                </a:spcAft>
                <a:buClr>
                  <a:srgbClr val="232B34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232B34"/>
                  </a:solidFill>
                  <a:latin typeface="Arial"/>
                  <a:ea typeface="Arial"/>
                  <a:cs typeface="Arial"/>
                  <a:sym typeface="Arial"/>
                </a:rPr>
                <a:t>Register instrument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200"/>
                </a:spcBef>
                <a:spcAft>
                  <a:spcPts val="0"/>
                </a:spcAft>
                <a:buClr>
                  <a:srgbClr val="232B34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232B34"/>
                  </a:solidFill>
                  <a:latin typeface="Arial"/>
                  <a:ea typeface="Arial"/>
                  <a:cs typeface="Arial"/>
                  <a:sym typeface="Arial"/>
                </a:rPr>
                <a:t>Submit application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1" name="Google Shape;18561;p3"/>
            <p:cNvSpPr/>
            <p:nvPr/>
          </p:nvSpPr>
          <p:spPr>
            <a:xfrm>
              <a:off x="1911095" y="2761488"/>
              <a:ext cx="255900" cy="457200"/>
            </a:xfrm>
            <a:prstGeom prst="chevron">
              <a:avLst>
                <a:gd name="adj" fmla="val 50000"/>
              </a:avLst>
            </a:prstGeom>
            <a:solidFill>
              <a:srgbClr val="299BD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2" name="Google Shape;18562;p3"/>
            <p:cNvSpPr/>
            <p:nvPr/>
          </p:nvSpPr>
          <p:spPr>
            <a:xfrm>
              <a:off x="2221992" y="2359152"/>
              <a:ext cx="1572900" cy="1417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6500" cap="flat" cmpd="sng">
              <a:solidFill>
                <a:srgbClr val="0069B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7000" tIns="88900" rIns="127000" bIns="762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84473"/>
                </a:buClr>
                <a:buSzPts val="1400"/>
                <a:buFont typeface="Play"/>
                <a:buNone/>
              </a:pPr>
              <a:r>
                <a:rPr lang="en-US" sz="1400" b="1" i="0" u="none" strike="noStrike" cap="none">
                  <a:solidFill>
                    <a:srgbClr val="184473"/>
                  </a:solidFill>
                  <a:latin typeface="Play"/>
                  <a:ea typeface="Play"/>
                  <a:cs typeface="Play"/>
                  <a:sym typeface="Play"/>
                </a:rPr>
                <a:t>PORTAL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300"/>
                </a:spcBef>
                <a:spcAft>
                  <a:spcPts val="0"/>
                </a:spcAft>
                <a:buClr>
                  <a:srgbClr val="232B34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232B34"/>
                  </a:solidFill>
                  <a:latin typeface="Arial"/>
                  <a:ea typeface="Arial"/>
                  <a:cs typeface="Arial"/>
                  <a:sym typeface="Arial"/>
                </a:rPr>
                <a:t>Validate data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200"/>
                </a:spcBef>
                <a:spcAft>
                  <a:spcPts val="0"/>
                </a:spcAft>
                <a:buClr>
                  <a:srgbClr val="232B34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232B34"/>
                  </a:solidFill>
                  <a:latin typeface="Arial"/>
                  <a:ea typeface="Arial"/>
                  <a:cs typeface="Arial"/>
                  <a:sym typeface="Arial"/>
                </a:rPr>
                <a:t>Queue &amp; fee/workflow </a:t>
              </a:r>
              <a:endParaRPr/>
            </a:p>
            <a:p>
              <a:pPr marL="0" marR="0" lvl="0" indent="0" algn="l" rtl="0"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3" name="Google Shape;18563;p3"/>
            <p:cNvSpPr/>
            <p:nvPr/>
          </p:nvSpPr>
          <p:spPr>
            <a:xfrm>
              <a:off x="3813048" y="2761488"/>
              <a:ext cx="255900" cy="457200"/>
            </a:xfrm>
            <a:prstGeom prst="chevron">
              <a:avLst>
                <a:gd name="adj" fmla="val 50000"/>
              </a:avLst>
            </a:prstGeom>
            <a:solidFill>
              <a:srgbClr val="299BD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4" name="Google Shape;18564;p3"/>
            <p:cNvSpPr/>
            <p:nvPr/>
          </p:nvSpPr>
          <p:spPr>
            <a:xfrm>
              <a:off x="4123944" y="2359152"/>
              <a:ext cx="1572900" cy="1417200"/>
            </a:xfrm>
            <a:prstGeom prst="roundRect">
              <a:avLst>
                <a:gd name="adj" fmla="val 16667"/>
              </a:avLst>
            </a:prstGeom>
            <a:solidFill>
              <a:srgbClr val="F1F7FB"/>
            </a:solidFill>
            <a:ln w="16500" cap="flat" cmpd="sng">
              <a:solidFill>
                <a:srgbClr val="0069B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7000" tIns="88900" rIns="127000" bIns="762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84473"/>
                </a:buClr>
                <a:buSzPts val="1400"/>
                <a:buFont typeface="Play"/>
                <a:buNone/>
              </a:pPr>
              <a:r>
                <a:rPr lang="en-US" sz="1400" b="1" i="0" u="none" strike="noStrike" cap="none">
                  <a:solidFill>
                    <a:srgbClr val="184473"/>
                  </a:solidFill>
                  <a:latin typeface="Play"/>
                  <a:ea typeface="Play"/>
                  <a:cs typeface="Play"/>
                  <a:sym typeface="Play"/>
                </a:rPr>
                <a:t>LMO / GATC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300"/>
                </a:spcBef>
                <a:spcAft>
                  <a:spcPts val="0"/>
                </a:spcAft>
                <a:buClr>
                  <a:srgbClr val="232B34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232B34"/>
                  </a:solidFill>
                  <a:latin typeface="Arial"/>
                  <a:ea typeface="Arial"/>
                  <a:cs typeface="Arial"/>
                  <a:sym typeface="Arial"/>
                </a:rPr>
                <a:t>Schedule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200"/>
                </a:spcBef>
                <a:spcAft>
                  <a:spcPts val="0"/>
                </a:spcAft>
                <a:buClr>
                  <a:srgbClr val="232B34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232B34"/>
                  </a:solidFill>
                  <a:latin typeface="Arial"/>
                  <a:ea typeface="Arial"/>
                  <a:cs typeface="Arial"/>
                  <a:sym typeface="Arial"/>
                </a:rPr>
                <a:t>Field verify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200"/>
                </a:spcBef>
                <a:spcAft>
                  <a:spcPts val="0"/>
                </a:spcAft>
                <a:buClr>
                  <a:srgbClr val="232B34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232B34"/>
                  </a:solidFill>
                  <a:latin typeface="Arial"/>
                  <a:ea typeface="Arial"/>
                  <a:cs typeface="Arial"/>
                  <a:sym typeface="Arial"/>
                </a:rPr>
                <a:t>Record evidence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5" name="Google Shape;18565;p3"/>
            <p:cNvSpPr/>
            <p:nvPr/>
          </p:nvSpPr>
          <p:spPr>
            <a:xfrm>
              <a:off x="5715000" y="2761488"/>
              <a:ext cx="255900" cy="457200"/>
            </a:xfrm>
            <a:prstGeom prst="chevron">
              <a:avLst>
                <a:gd name="adj" fmla="val 50000"/>
              </a:avLst>
            </a:prstGeom>
            <a:solidFill>
              <a:srgbClr val="299BD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6" name="Google Shape;18566;p3"/>
            <p:cNvSpPr/>
            <p:nvPr/>
          </p:nvSpPr>
          <p:spPr>
            <a:xfrm>
              <a:off x="6025896" y="2359152"/>
              <a:ext cx="1572900" cy="1417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6500" cap="flat" cmpd="sng">
              <a:solidFill>
                <a:srgbClr val="23916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7000" tIns="88900" rIns="127000" bIns="762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84473"/>
                </a:buClr>
                <a:buSzPts val="1400"/>
                <a:buFont typeface="Play"/>
                <a:buNone/>
              </a:pPr>
              <a:r>
                <a:rPr lang="en-US" sz="1400" b="1" i="0" u="none" strike="noStrike" cap="none">
                  <a:solidFill>
                    <a:srgbClr val="184473"/>
                  </a:solidFill>
                  <a:latin typeface="Play"/>
                  <a:ea typeface="Play"/>
                  <a:cs typeface="Play"/>
                  <a:sym typeface="Play"/>
                </a:rPr>
                <a:t>CERTIFICATE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300"/>
                </a:spcBef>
                <a:spcAft>
                  <a:spcPts val="0"/>
                </a:spcAft>
                <a:buClr>
                  <a:srgbClr val="232B34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232B34"/>
                  </a:solidFill>
                  <a:latin typeface="Arial"/>
                  <a:ea typeface="Arial"/>
                  <a:cs typeface="Arial"/>
                  <a:sym typeface="Arial"/>
                </a:rPr>
                <a:t>Digital certificate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200"/>
                </a:spcBef>
                <a:spcAft>
                  <a:spcPts val="0"/>
                </a:spcAft>
                <a:buClr>
                  <a:srgbClr val="232B34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232B34"/>
                  </a:solidFill>
                  <a:latin typeface="Arial"/>
                  <a:ea typeface="Arial"/>
                  <a:cs typeface="Arial"/>
                  <a:sym typeface="Arial"/>
                </a:rPr>
                <a:t>Unique QR + signature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7" name="Google Shape;18567;p3"/>
            <p:cNvSpPr/>
            <p:nvPr/>
          </p:nvSpPr>
          <p:spPr>
            <a:xfrm>
              <a:off x="7616952" y="2761488"/>
              <a:ext cx="255900" cy="457200"/>
            </a:xfrm>
            <a:prstGeom prst="chevron">
              <a:avLst>
                <a:gd name="adj" fmla="val 50000"/>
              </a:avLst>
            </a:prstGeom>
            <a:solidFill>
              <a:srgbClr val="299BD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8" name="Google Shape;18568;p3"/>
            <p:cNvSpPr/>
            <p:nvPr/>
          </p:nvSpPr>
          <p:spPr>
            <a:xfrm>
              <a:off x="7927848" y="2359152"/>
              <a:ext cx="1572900" cy="1417200"/>
            </a:xfrm>
            <a:prstGeom prst="roundRect">
              <a:avLst>
                <a:gd name="adj" fmla="val 16667"/>
              </a:avLst>
            </a:prstGeom>
            <a:solidFill>
              <a:srgbClr val="F1F7FB"/>
            </a:solidFill>
            <a:ln w="16500" cap="flat" cmpd="sng">
              <a:solidFill>
                <a:srgbClr val="23916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7000" tIns="88900" rIns="127000" bIns="762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84473"/>
                </a:buClr>
                <a:buSzPts val="1400"/>
                <a:buFont typeface="Play"/>
                <a:buNone/>
              </a:pPr>
              <a:r>
                <a:rPr lang="en-US" sz="1400" b="1" i="0" u="none" strike="noStrike" cap="none">
                  <a:solidFill>
                    <a:srgbClr val="184473"/>
                  </a:solidFill>
                  <a:latin typeface="Play"/>
                  <a:ea typeface="Play"/>
                  <a:cs typeface="Play"/>
                  <a:sym typeface="Play"/>
                </a:rPr>
                <a:t>MONITORING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300"/>
                </a:spcBef>
                <a:spcAft>
                  <a:spcPts val="0"/>
                </a:spcAft>
                <a:buClr>
                  <a:srgbClr val="232B34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232B34"/>
                  </a:solidFill>
                  <a:latin typeface="Arial"/>
                  <a:ea typeface="Arial"/>
                  <a:cs typeface="Arial"/>
                  <a:sym typeface="Arial"/>
                </a:rPr>
                <a:t>Validity engine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200"/>
                </a:spcBef>
                <a:spcAft>
                  <a:spcPts val="0"/>
                </a:spcAft>
                <a:buClr>
                  <a:srgbClr val="232B34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232B34"/>
                  </a:solidFill>
                  <a:latin typeface="Arial"/>
                  <a:ea typeface="Arial"/>
                  <a:cs typeface="Arial"/>
                  <a:sym typeface="Arial"/>
                </a:rPr>
                <a:t>Alerts + dashboards </a:t>
              </a:r>
              <a:endParaRPr/>
            </a:p>
            <a:p>
              <a:pPr marL="0" marR="0" lvl="0" indent="0" algn="l" rtl="0"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9" name="Google Shape;18569;p3"/>
            <p:cNvSpPr/>
            <p:nvPr/>
          </p:nvSpPr>
          <p:spPr>
            <a:xfrm>
              <a:off x="9518904" y="2761488"/>
              <a:ext cx="255900" cy="457200"/>
            </a:xfrm>
            <a:prstGeom prst="chevron">
              <a:avLst>
                <a:gd name="adj" fmla="val 50000"/>
              </a:avLst>
            </a:prstGeom>
            <a:solidFill>
              <a:srgbClr val="299BD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70" name="Google Shape;18570;p3"/>
            <p:cNvSpPr/>
            <p:nvPr/>
          </p:nvSpPr>
          <p:spPr>
            <a:xfrm>
              <a:off x="9829800" y="2359152"/>
              <a:ext cx="1572900" cy="1417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6500" cap="flat" cmpd="sng">
              <a:solidFill>
                <a:srgbClr val="23916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7000" tIns="88900" rIns="127000" bIns="762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84473"/>
                </a:buClr>
                <a:buSzPts val="1400"/>
                <a:buFont typeface="Play"/>
                <a:buNone/>
              </a:pPr>
              <a:r>
                <a:rPr lang="en-US" sz="1400" b="1" i="0" u="none" strike="noStrike" cap="none">
                  <a:solidFill>
                    <a:srgbClr val="184473"/>
                  </a:solidFill>
                  <a:latin typeface="Play"/>
                  <a:ea typeface="Play"/>
                  <a:cs typeface="Play"/>
                  <a:sym typeface="Play"/>
                </a:rPr>
                <a:t>PUBLIC / ADMIN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300"/>
                </a:spcBef>
                <a:spcAft>
                  <a:spcPts val="0"/>
                </a:spcAft>
                <a:buClr>
                  <a:srgbClr val="232B34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232B34"/>
                  </a:solidFill>
                  <a:latin typeface="Arial"/>
                  <a:ea typeface="Arial"/>
                  <a:cs typeface="Arial"/>
                  <a:sym typeface="Arial"/>
                </a:rPr>
                <a:t>Scan / search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200"/>
                </a:spcBef>
                <a:spcAft>
                  <a:spcPts val="0"/>
                </a:spcAft>
                <a:buClr>
                  <a:srgbClr val="232B34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232B34"/>
                  </a:solidFill>
                  <a:latin typeface="Arial"/>
                  <a:ea typeface="Arial"/>
                  <a:cs typeface="Arial"/>
                  <a:sym typeface="Arial"/>
                </a:rPr>
                <a:t>Report / enforce 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71" name="Google Shape;18571;p3"/>
          <p:cNvSpPr/>
          <p:nvPr/>
        </p:nvSpPr>
        <p:spPr>
          <a:xfrm>
            <a:off x="502920" y="4160520"/>
            <a:ext cx="3520500" cy="141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500" cap="flat" cmpd="sng">
            <a:solidFill>
              <a:srgbClr val="18447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27000" tIns="88900" rIns="127000" bIns="76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1400"/>
              <a:buFont typeface="Play"/>
              <a:buNone/>
            </a:pPr>
            <a:r>
              <a:rPr lang="en-US" sz="1400" b="1" i="0" u="none" strike="noStrike" cap="none">
                <a:solidFill>
                  <a:srgbClr val="184473"/>
                </a:solidFill>
                <a:latin typeface="Play"/>
                <a:ea typeface="Play"/>
                <a:cs typeface="Play"/>
                <a:sym typeface="Play"/>
              </a:rPr>
              <a:t>SECURITY &amp; TRUST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232B34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RBAC + MFA-ready design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Digital signatures / certificate revocation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Encrypted data + audit logs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2" name="Google Shape;18572;p3"/>
          <p:cNvSpPr/>
          <p:nvPr/>
        </p:nvSpPr>
        <p:spPr>
          <a:xfrm>
            <a:off x="4325112" y="4160520"/>
            <a:ext cx="3520500" cy="141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500" cap="flat" cmpd="sng">
            <a:solidFill>
              <a:srgbClr val="23916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27000" tIns="88900" rIns="127000" bIns="76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1400"/>
              <a:buFont typeface="Play"/>
              <a:buNone/>
            </a:pPr>
            <a:r>
              <a:rPr lang="en-US" sz="1400" b="1" i="0" u="none" strike="noStrike" cap="none">
                <a:solidFill>
                  <a:srgbClr val="184473"/>
                </a:solidFill>
                <a:latin typeface="Play"/>
                <a:ea typeface="Play"/>
                <a:cs typeface="Play"/>
                <a:sym typeface="Play"/>
              </a:rPr>
              <a:t>FIELD &amp; EVIDENCE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232B34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Offline-first mobile capture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Timestamp + geo-tag + photo/video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Sync when connectivity returns 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3" name="Google Shape;18573;p3"/>
          <p:cNvSpPr/>
          <p:nvPr/>
        </p:nvSpPr>
        <p:spPr>
          <a:xfrm>
            <a:off x="8147304" y="4160520"/>
            <a:ext cx="3520500" cy="141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500" cap="flat" cmpd="sng">
            <a:solidFill>
              <a:srgbClr val="0069B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27000" tIns="88900" rIns="127000" bIns="76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1400"/>
              <a:buFont typeface="Play"/>
              <a:buNone/>
            </a:pPr>
            <a:r>
              <a:rPr lang="en-US" sz="1400" b="1" i="0" u="none" strike="noStrike" cap="none">
                <a:solidFill>
                  <a:srgbClr val="184473"/>
                </a:solidFill>
                <a:latin typeface="Play"/>
                <a:ea typeface="Play"/>
                <a:cs typeface="Play"/>
                <a:sym typeface="Play"/>
              </a:rPr>
              <a:t>INTELLIGENCE LAYER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232B34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Rule-based complaint triage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Duplicate/linked case detection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Geo-clusters + overdue/SLA alerts 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4" name="Google Shape;18574;p3"/>
          <p:cNvSpPr txBox="1"/>
          <p:nvPr/>
        </p:nvSpPr>
        <p:spPr>
          <a:xfrm>
            <a:off x="609600" y="5961888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84473"/>
                </a:solidFill>
                <a:latin typeface="Arial"/>
                <a:ea typeface="Arial"/>
                <a:cs typeface="Arial"/>
                <a:sym typeface="Arial"/>
              </a:rPr>
              <a:t>Suggested stack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5" name="Google Shape;18575;p3"/>
          <p:cNvSpPr txBox="1"/>
          <p:nvPr/>
        </p:nvSpPr>
        <p:spPr>
          <a:xfrm>
            <a:off x="1892940" y="5961888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B3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React / Flutter • Node.js or FastAPI • PostgreSQL/PostGIS • Object storage • REST APIs • QR + digital-signature service • Secure cloud deployment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6" name="Google Shape;18576;p3" descr="Your startup LOGO"/>
          <p:cNvSpPr/>
          <p:nvPr/>
        </p:nvSpPr>
        <p:spPr>
          <a:xfrm>
            <a:off x="323574" y="275500"/>
            <a:ext cx="18984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Byte</a:t>
            </a:r>
            <a:r>
              <a:rPr lang="en-US" sz="1600" b="1" dirty="0">
                <a:solidFill>
                  <a:schemeClr val="dk1"/>
                </a:solidFill>
              </a:rPr>
              <a:t>Optima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8" name="Google Shape;18578;p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8579" name="Google Shape;18579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swald"/>
                <a:buNone/>
              </a:p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580" name="Google Shape;18580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581" name="Google Shape;1858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6" cy="1062340"/>
          </a:xfrm>
          <a:prstGeom prst="rect">
            <a:avLst/>
          </a:prstGeom>
          <a:noFill/>
          <a:ln>
            <a:noFill/>
          </a:ln>
        </p:spPr>
      </p:pic>
      <p:sp>
        <p:nvSpPr>
          <p:cNvPr id="18582" name="Google Shape;18582;p4"/>
          <p:cNvSpPr txBox="1"/>
          <p:nvPr/>
        </p:nvSpPr>
        <p:spPr>
          <a:xfrm>
            <a:off x="685800" y="1353312"/>
            <a:ext cx="10789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84473"/>
                </a:solidFill>
                <a:latin typeface="Arial"/>
                <a:ea typeface="Arial"/>
                <a:cs typeface="Arial"/>
                <a:sym typeface="Arial"/>
              </a:rPr>
              <a:t>FEASIBILITY • RISKS • CONTROLS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3" name="Google Shape;18583;p4"/>
          <p:cNvSpPr/>
          <p:nvPr/>
        </p:nvSpPr>
        <p:spPr>
          <a:xfrm>
            <a:off x="502920" y="1993392"/>
            <a:ext cx="3474600" cy="3693300"/>
          </a:xfrm>
          <a:prstGeom prst="roundRect">
            <a:avLst>
              <a:gd name="adj" fmla="val 16667"/>
            </a:avLst>
          </a:prstGeom>
          <a:solidFill>
            <a:srgbClr val="F1F7FB"/>
          </a:solidFill>
          <a:ln w="16500" cap="flat" cmpd="sng">
            <a:solidFill>
              <a:srgbClr val="0069B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27000" tIns="88900" rIns="127000" bIns="76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1400"/>
              <a:buFont typeface="Play"/>
              <a:buNone/>
            </a:pPr>
            <a:r>
              <a:rPr lang="en-US" sz="1400" b="1" i="0" u="none" strike="noStrike" cap="none">
                <a:solidFill>
                  <a:srgbClr val="184473"/>
                </a:solidFill>
                <a:latin typeface="Play"/>
                <a:ea typeface="Play"/>
                <a:cs typeface="Play"/>
                <a:sym typeface="Play"/>
              </a:rPr>
              <a:t>FEASIBILITY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Web + mobile architecture is standard and scalable.</a:t>
            </a:r>
            <a:endParaRPr sz="1300" b="0" i="0" u="none" strike="noStrike" cap="none">
              <a:solidFill>
                <a:srgbClr val="232B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232B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Central database supports search, dashboards and lifecycle records.</a:t>
            </a:r>
            <a:endParaRPr sz="1300" b="0" i="0" u="none" strike="noStrike" cap="none">
              <a:solidFill>
                <a:srgbClr val="232B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232B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API-first design allows future integration with state systems and approved centers.</a:t>
            </a:r>
            <a:endParaRPr sz="1300" b="0" i="0" u="none" strike="noStrike" cap="none">
              <a:solidFill>
                <a:srgbClr val="232B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232B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MVP can be demonstrated with sandbox users, sample instruments and digital certificates.</a:t>
            </a:r>
            <a:endParaRPr sz="1300" b="0" i="0" u="none" strike="noStrike" cap="none">
              <a:solidFill>
                <a:srgbClr val="232B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84" name="Google Shape;18584;p4"/>
          <p:cNvSpPr/>
          <p:nvPr/>
        </p:nvSpPr>
        <p:spPr>
          <a:xfrm>
            <a:off x="8202168" y="1993392"/>
            <a:ext cx="3474600" cy="3693300"/>
          </a:xfrm>
          <a:prstGeom prst="roundRect">
            <a:avLst>
              <a:gd name="adj" fmla="val 16667"/>
            </a:avLst>
          </a:prstGeom>
          <a:solidFill>
            <a:srgbClr val="F1F7FB"/>
          </a:solidFill>
          <a:ln w="16500" cap="flat" cmpd="sng">
            <a:solidFill>
              <a:srgbClr val="23916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27000" tIns="88900" rIns="127000" bIns="76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1300"/>
              <a:buFont typeface="Play"/>
              <a:buNone/>
            </a:pPr>
            <a:r>
              <a:rPr lang="en-US" sz="1300" b="1" i="0" u="none" strike="noStrike" cap="none">
                <a:solidFill>
                  <a:srgbClr val="184473"/>
                </a:solidFill>
                <a:latin typeface="Play"/>
                <a:ea typeface="Play"/>
                <a:cs typeface="Play"/>
                <a:sym typeface="Play"/>
              </a:rPr>
              <a:t>MITIGATION BY DESIGN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232B34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RBAC, encryption, MFA-ready login and complete audit trail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Digitally signed certificate + server-side status/revocation check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Offline capture with controlled sync and conflict handling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Reports are “suspected violations”; authority confirmation remains mandatory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Configurable workflows, rules and jurisdiction-level administration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5" name="Google Shape;18585;p4"/>
          <p:cNvSpPr txBox="1"/>
          <p:nvPr/>
        </p:nvSpPr>
        <p:spPr>
          <a:xfrm>
            <a:off x="1005750" y="5915296"/>
            <a:ext cx="101499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184473"/>
                </a:solidFill>
                <a:latin typeface="Arial"/>
                <a:ea typeface="Arial"/>
                <a:cs typeface="Arial"/>
                <a:sym typeface="Arial"/>
              </a:rPr>
              <a:t>Deployment principle: start with a controlled pilot → validate workflow with LMOs/GATCs → expand by state/jurisdiction.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6" name="Google Shape;18586;p4" descr="Your startup LOGO"/>
          <p:cNvSpPr/>
          <p:nvPr/>
        </p:nvSpPr>
        <p:spPr>
          <a:xfrm>
            <a:off x="329776" y="252250"/>
            <a:ext cx="20346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Byte</a:t>
            </a:r>
            <a:r>
              <a:rPr lang="en-US" sz="1600" b="1" dirty="0">
                <a:solidFill>
                  <a:schemeClr val="dk1"/>
                </a:solidFill>
              </a:rPr>
              <a:t>Optima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7" name="Google Shape;18587;p4"/>
          <p:cNvSpPr/>
          <p:nvPr/>
        </p:nvSpPr>
        <p:spPr>
          <a:xfrm>
            <a:off x="4352544" y="2005584"/>
            <a:ext cx="3474600" cy="3693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500" cap="flat" cmpd="sng">
            <a:solidFill>
              <a:srgbClr val="C043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27000" tIns="88900" rIns="127000" bIns="76200" anchor="ctr" anchorCtr="0">
            <a:noAutofit/>
          </a:bodyPr>
          <a:lstStyle/>
          <a:p>
            <a:pPr marL="0" marR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84473"/>
                </a:solidFill>
                <a:latin typeface="Play"/>
                <a:ea typeface="Play"/>
                <a:cs typeface="Play"/>
                <a:sym typeface="Play"/>
              </a:rPr>
              <a:t>KEY RISKS</a:t>
            </a:r>
            <a:endParaRPr/>
          </a:p>
          <a:p>
            <a:pPr marL="0" marR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184473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Data privacy / unauthorized access.</a:t>
            </a:r>
            <a:endParaRPr sz="1400" b="0" i="0" u="none" strike="noStrike" cap="none">
              <a:solidFill>
                <a:srgbClr val="232B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232B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Fake or duplicated certificates</a:t>
            </a:r>
            <a:endParaRPr sz="1400" b="0" i="0" u="none" strike="noStrike" cap="none">
              <a:solidFill>
                <a:srgbClr val="232B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232B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Low connectivity during field visits</a:t>
            </a:r>
            <a:endParaRPr sz="1400" b="0" i="0" u="none" strike="noStrike" cap="none">
              <a:solidFill>
                <a:srgbClr val="232B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232B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False / malicious consumer reports</a:t>
            </a:r>
            <a:endParaRPr sz="1400" b="0" i="0" u="none" strike="noStrike" cap="none">
              <a:solidFill>
                <a:srgbClr val="232B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232B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Inter-state workflow differences &amp; policy changes</a:t>
            </a:r>
            <a:endParaRPr sz="1400" b="0" i="0" u="none" strike="noStrike" cap="none">
              <a:solidFill>
                <a:srgbClr val="232B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184473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9" name="Google Shape;18589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8590" name="Google Shape;18590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swald"/>
                <a:buNone/>
              </a:p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591" name="Google Shape;18591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592" name="Google Shape;1859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6" cy="1062340"/>
          </a:xfrm>
          <a:prstGeom prst="rect">
            <a:avLst/>
          </a:prstGeom>
          <a:noFill/>
          <a:ln>
            <a:noFill/>
          </a:ln>
        </p:spPr>
      </p:pic>
      <p:sp>
        <p:nvSpPr>
          <p:cNvPr id="18593" name="Google Shape;18593;p5"/>
          <p:cNvSpPr txBox="1"/>
          <p:nvPr/>
        </p:nvSpPr>
        <p:spPr>
          <a:xfrm>
            <a:off x="502920" y="1325880"/>
            <a:ext cx="112014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2150"/>
              <a:buFont typeface="Arial"/>
              <a:buNone/>
            </a:pPr>
            <a:r>
              <a:rPr lang="en-US" sz="2150" b="1" i="0" u="none" strike="noStrike" cap="none">
                <a:solidFill>
                  <a:srgbClr val="184473"/>
                </a:solidFill>
                <a:latin typeface="Arial"/>
                <a:ea typeface="Arial"/>
                <a:cs typeface="Arial"/>
                <a:sym typeface="Arial"/>
              </a:rPr>
              <a:t>IMPACT: FROM RECORD KEEPING TO ACTIVE COMPLIANCE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4" name="Google Shape;18594;p5"/>
          <p:cNvSpPr/>
          <p:nvPr/>
        </p:nvSpPr>
        <p:spPr>
          <a:xfrm>
            <a:off x="502920" y="1920240"/>
            <a:ext cx="3429000" cy="3383400"/>
          </a:xfrm>
          <a:prstGeom prst="roundRect">
            <a:avLst>
              <a:gd name="adj" fmla="val 16667"/>
            </a:avLst>
          </a:prstGeom>
          <a:solidFill>
            <a:srgbClr val="F1F7FB"/>
          </a:solidFill>
          <a:ln w="16500" cap="flat" cmpd="sng">
            <a:solidFill>
              <a:srgbClr val="0069B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27000" tIns="88900" rIns="127000" bIns="76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1600"/>
              <a:buFont typeface="Play"/>
              <a:buNone/>
            </a:pPr>
            <a:r>
              <a:rPr lang="en-US" sz="1600" b="1" i="0" u="none" strike="noStrike" cap="none">
                <a:solidFill>
                  <a:srgbClr val="184473"/>
                </a:solidFill>
                <a:latin typeface="Play"/>
                <a:ea typeface="Play"/>
                <a:cs typeface="Play"/>
                <a:sym typeface="Play"/>
              </a:rPr>
              <a:t>FOR CITIZENS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• Instant verification through QR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• Easier access to certificate information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• Simple suspected-violation reporting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• Greater transparency and trust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• No need to understand the internal workflow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5" name="Google Shape;18595;p5"/>
          <p:cNvSpPr/>
          <p:nvPr/>
        </p:nvSpPr>
        <p:spPr>
          <a:xfrm>
            <a:off x="4370832" y="1920240"/>
            <a:ext cx="3429000" cy="3383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500" cap="flat" cmpd="sng">
            <a:solidFill>
              <a:srgbClr val="23916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27000" tIns="88900" rIns="127000" bIns="76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1600"/>
              <a:buFont typeface="Play"/>
              <a:buNone/>
            </a:pPr>
            <a:r>
              <a:rPr lang="en-US" sz="1600" b="1" i="0" u="none" strike="noStrike" cap="none">
                <a:solidFill>
                  <a:srgbClr val="184473"/>
                </a:solidFill>
                <a:latin typeface="Play"/>
                <a:ea typeface="Play"/>
                <a:cs typeface="Play"/>
                <a:sym typeface="Play"/>
              </a:rPr>
              <a:t>FOR BUSINESSES / GATCs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• Faster applications and scheduling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• One digital record for each instrument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• Automated renewal reminders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• Download/print certificates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• Less paperwork and easier compliance tracking 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232B3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6" name="Google Shape;18596;p5"/>
          <p:cNvSpPr/>
          <p:nvPr/>
        </p:nvSpPr>
        <p:spPr>
          <a:xfrm>
            <a:off x="8238744" y="1920240"/>
            <a:ext cx="3429000" cy="3383400"/>
          </a:xfrm>
          <a:prstGeom prst="roundRect">
            <a:avLst>
              <a:gd name="adj" fmla="val 16667"/>
            </a:avLst>
          </a:prstGeom>
          <a:solidFill>
            <a:srgbClr val="F1F7FB"/>
          </a:solidFill>
          <a:ln w="16500" cap="flat" cmpd="sng">
            <a:solidFill>
              <a:srgbClr val="18447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27000" tIns="88900" rIns="127000" bIns="76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1600"/>
              <a:buFont typeface="Play"/>
              <a:buNone/>
            </a:pPr>
            <a:r>
              <a:rPr lang="en-US" sz="1600" b="1" i="0" u="none" strike="noStrike" cap="none">
                <a:solidFill>
                  <a:srgbClr val="184473"/>
                </a:solidFill>
                <a:latin typeface="Play"/>
                <a:ea typeface="Play"/>
                <a:cs typeface="Play"/>
                <a:sym typeface="Play"/>
              </a:rPr>
              <a:t>FOR GOVERNMENT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• Centralized visibility and dashboards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• Better field workload allocation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• Evidence-linked enforcement intelligence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• Expiry/pendency monitoring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• Traceable actions and audit history 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97" name="Google Shape;18597;p5"/>
          <p:cNvGrpSpPr/>
          <p:nvPr/>
        </p:nvGrpSpPr>
        <p:grpSpPr>
          <a:xfrm>
            <a:off x="690708" y="5811520"/>
            <a:ext cx="11118983" cy="475500"/>
            <a:chOff x="713232" y="5532120"/>
            <a:chExt cx="11118983" cy="475500"/>
          </a:xfrm>
        </p:grpSpPr>
        <p:sp>
          <p:nvSpPr>
            <p:cNvPr id="18598" name="Google Shape;18598;p5"/>
            <p:cNvSpPr/>
            <p:nvPr/>
          </p:nvSpPr>
          <p:spPr>
            <a:xfrm>
              <a:off x="713232" y="5532120"/>
              <a:ext cx="2560200" cy="475500"/>
            </a:xfrm>
            <a:prstGeom prst="roundRect">
              <a:avLst>
                <a:gd name="adj" fmla="val 16667"/>
              </a:avLst>
            </a:prstGeom>
            <a:solidFill>
              <a:srgbClr val="E7F2F9"/>
            </a:solidFill>
            <a:ln w="9525" cap="flat" cmpd="sng">
              <a:solidFill>
                <a:srgbClr val="299BD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84473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84473"/>
                  </a:solidFill>
                  <a:latin typeface="Arial"/>
                  <a:ea typeface="Arial"/>
                  <a:cs typeface="Arial"/>
                  <a:sym typeface="Arial"/>
                </a:rPr>
                <a:t>DIGITAL • verification lifecycle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99" name="Google Shape;18599;p5"/>
            <p:cNvSpPr/>
            <p:nvPr/>
          </p:nvSpPr>
          <p:spPr>
            <a:xfrm>
              <a:off x="3566160" y="5532120"/>
              <a:ext cx="2560200" cy="475500"/>
            </a:xfrm>
            <a:prstGeom prst="roundRect">
              <a:avLst>
                <a:gd name="adj" fmla="val 16667"/>
              </a:avLst>
            </a:prstGeom>
            <a:solidFill>
              <a:srgbClr val="E7F2F9"/>
            </a:solidFill>
            <a:ln w="9525" cap="flat" cmpd="sng">
              <a:solidFill>
                <a:srgbClr val="299BD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84473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84473"/>
                  </a:solidFill>
                  <a:latin typeface="Arial"/>
                  <a:ea typeface="Arial"/>
                  <a:cs typeface="Arial"/>
                  <a:sym typeface="Arial"/>
                </a:rPr>
                <a:t>VERIFIABLE • certificates &amp; identities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00" name="Google Shape;18600;p5"/>
            <p:cNvSpPr/>
            <p:nvPr/>
          </p:nvSpPr>
          <p:spPr>
            <a:xfrm>
              <a:off x="6419088" y="5532120"/>
              <a:ext cx="2560200" cy="475500"/>
            </a:xfrm>
            <a:prstGeom prst="roundRect">
              <a:avLst>
                <a:gd name="adj" fmla="val 16667"/>
              </a:avLst>
            </a:prstGeom>
            <a:solidFill>
              <a:srgbClr val="E7F2F9"/>
            </a:solidFill>
            <a:ln w="9525" cap="flat" cmpd="sng">
              <a:solidFill>
                <a:srgbClr val="299BD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84473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84473"/>
                  </a:solidFill>
                  <a:latin typeface="Arial"/>
                  <a:ea typeface="Arial"/>
                  <a:cs typeface="Arial"/>
                  <a:sym typeface="Arial"/>
                </a:rPr>
                <a:t>PROACTIVE • alerts + public reports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01" name="Google Shape;18601;p5"/>
            <p:cNvSpPr/>
            <p:nvPr/>
          </p:nvSpPr>
          <p:spPr>
            <a:xfrm>
              <a:off x="9272015" y="5532120"/>
              <a:ext cx="2560200" cy="475500"/>
            </a:xfrm>
            <a:prstGeom prst="roundRect">
              <a:avLst>
                <a:gd name="adj" fmla="val 16667"/>
              </a:avLst>
            </a:prstGeom>
            <a:solidFill>
              <a:srgbClr val="E7F2F9"/>
            </a:solidFill>
            <a:ln w="9525" cap="flat" cmpd="sng">
              <a:solidFill>
                <a:srgbClr val="299BD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84473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84473"/>
                  </a:solidFill>
                  <a:latin typeface="Arial"/>
                  <a:ea typeface="Arial"/>
                  <a:cs typeface="Arial"/>
                  <a:sym typeface="Arial"/>
                </a:rPr>
                <a:t>TRACEABLE • evidence + audit trail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02" name="Google Shape;18602;p5" descr="Your startup LOGO"/>
          <p:cNvSpPr/>
          <p:nvPr/>
        </p:nvSpPr>
        <p:spPr>
          <a:xfrm>
            <a:off x="329776" y="252250"/>
            <a:ext cx="20427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Byte</a:t>
            </a:r>
            <a:r>
              <a:rPr lang="en-US" sz="1600" b="1" dirty="0">
                <a:solidFill>
                  <a:schemeClr val="dk1"/>
                </a:solidFill>
              </a:rPr>
              <a:t>Optima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4" name="Google Shape;18604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8605" name="Google Shape;18605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swald"/>
                <a:buNone/>
              </a:p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606" name="Google Shape;18606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607" name="Google Shape;1860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6" cy="1062340"/>
          </a:xfrm>
          <a:prstGeom prst="rect">
            <a:avLst/>
          </a:prstGeom>
          <a:noFill/>
          <a:ln>
            <a:noFill/>
          </a:ln>
        </p:spPr>
      </p:pic>
      <p:sp>
        <p:nvSpPr>
          <p:cNvPr id="18608" name="Google Shape;18608;p6"/>
          <p:cNvSpPr txBox="1"/>
          <p:nvPr/>
        </p:nvSpPr>
        <p:spPr>
          <a:xfrm>
            <a:off x="685800" y="1353312"/>
            <a:ext cx="10789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84473"/>
                </a:solidFill>
                <a:latin typeface="Arial"/>
                <a:ea typeface="Arial"/>
                <a:cs typeface="Arial"/>
                <a:sym typeface="Arial"/>
              </a:rPr>
              <a:t>RESEARCH AND REFERENCES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09" name="Google Shape;18609;p6"/>
          <p:cNvSpPr txBox="1"/>
          <p:nvPr/>
        </p:nvSpPr>
        <p:spPr>
          <a:xfrm>
            <a:off x="777240" y="1764792"/>
            <a:ext cx="106527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36D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A636D"/>
                </a:solidFill>
                <a:latin typeface="Arial"/>
                <a:ea typeface="Arial"/>
                <a:cs typeface="Arial"/>
                <a:sym typeface="Arial"/>
              </a:rPr>
              <a:t>Solution design is grounded in the SIH </a:t>
            </a:r>
            <a:r>
              <a:rPr lang="en-US" sz="1400" b="0" i="0" u="none" strike="noStrike" cap="none">
                <a:solidFill>
                  <a:srgbClr val="5A636D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lang="en-US" sz="1300" b="0" i="0" u="none" strike="noStrike" cap="none">
                <a:solidFill>
                  <a:srgbClr val="5A636D"/>
                </a:solidFill>
                <a:latin typeface="Arial"/>
                <a:ea typeface="Arial"/>
                <a:cs typeface="Arial"/>
                <a:sym typeface="Arial"/>
              </a:rPr>
              <a:t> statement and official Department of Consumer Affairs legal-metrology material.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0" name="Google Shape;18610;p6"/>
          <p:cNvSpPr/>
          <p:nvPr/>
        </p:nvSpPr>
        <p:spPr>
          <a:xfrm>
            <a:off x="658368" y="2304288"/>
            <a:ext cx="420600" cy="420600"/>
          </a:xfrm>
          <a:prstGeom prst="ellipse">
            <a:avLst/>
          </a:prstGeom>
          <a:solidFill>
            <a:srgbClr val="18447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1" name="Google Shape;18611;p6"/>
          <p:cNvSpPr txBox="1"/>
          <p:nvPr/>
        </p:nvSpPr>
        <p:spPr>
          <a:xfrm>
            <a:off x="1207008" y="2286000"/>
            <a:ext cx="60351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84473"/>
                </a:solidFill>
                <a:latin typeface="Arial"/>
                <a:ea typeface="Arial"/>
                <a:cs typeface="Arial"/>
                <a:sym typeface="Arial"/>
              </a:rPr>
              <a:t>SIH 2026 Problem Statement 26036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2" name="Google Shape;18612;p6"/>
          <p:cNvSpPr txBox="1"/>
          <p:nvPr/>
        </p:nvSpPr>
        <p:spPr>
          <a:xfrm>
            <a:off x="1207008" y="2560320"/>
            <a:ext cx="6035100" cy="5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Development of an Online Verification System for Weighing and Measuring Instruments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3" name="Google Shape;18613;p6"/>
          <p:cNvSpPr txBox="1"/>
          <p:nvPr/>
        </p:nvSpPr>
        <p:spPr>
          <a:xfrm>
            <a:off x="7360920" y="2359152"/>
            <a:ext cx="41604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9B4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69B4"/>
                </a:solidFill>
                <a:latin typeface="Arial"/>
                <a:ea typeface="Arial"/>
                <a:cs typeface="Arial"/>
                <a:sym typeface="Arial"/>
              </a:rPr>
              <a:t>https://www.sih.gov.in/sih2026PS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4" name="Google Shape;18614;p6"/>
          <p:cNvSpPr/>
          <p:nvPr/>
        </p:nvSpPr>
        <p:spPr>
          <a:xfrm>
            <a:off x="658368" y="3081528"/>
            <a:ext cx="420600" cy="420600"/>
          </a:xfrm>
          <a:prstGeom prst="ellipse">
            <a:avLst/>
          </a:prstGeom>
          <a:solidFill>
            <a:srgbClr val="18447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5" name="Google Shape;18615;p6"/>
          <p:cNvSpPr txBox="1"/>
          <p:nvPr/>
        </p:nvSpPr>
        <p:spPr>
          <a:xfrm>
            <a:off x="1207008" y="3063240"/>
            <a:ext cx="60351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84473"/>
                </a:solidFill>
                <a:latin typeface="Arial"/>
                <a:ea typeface="Arial"/>
                <a:cs typeface="Arial"/>
                <a:sym typeface="Arial"/>
              </a:rPr>
              <a:t>Department of Consumer Affairs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6" name="Google Shape;18616;p6"/>
          <p:cNvSpPr txBox="1"/>
          <p:nvPr/>
        </p:nvSpPr>
        <p:spPr>
          <a:xfrm>
            <a:off x="1207008" y="3337560"/>
            <a:ext cx="6035100" cy="5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Legal Metrology – overview, legislative framework, verification/stamping, State enforcement and GATC context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7" name="Google Shape;18617;p6"/>
          <p:cNvSpPr txBox="1"/>
          <p:nvPr/>
        </p:nvSpPr>
        <p:spPr>
          <a:xfrm>
            <a:off x="7360920" y="3136392"/>
            <a:ext cx="4160400" cy="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9B4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69B4"/>
                </a:solidFill>
                <a:latin typeface="Arial"/>
                <a:ea typeface="Arial"/>
                <a:cs typeface="Arial"/>
                <a:sym typeface="Arial"/>
              </a:rPr>
              <a:t>https://consumeraffairs.gov.in/pages/legal-metrology-overview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8" name="Google Shape;18618;p6"/>
          <p:cNvSpPr/>
          <p:nvPr/>
        </p:nvSpPr>
        <p:spPr>
          <a:xfrm>
            <a:off x="658368" y="3858768"/>
            <a:ext cx="420600" cy="420600"/>
          </a:xfrm>
          <a:prstGeom prst="ellipse">
            <a:avLst/>
          </a:prstGeom>
          <a:solidFill>
            <a:srgbClr val="18447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9" name="Google Shape;18619;p6"/>
          <p:cNvSpPr txBox="1"/>
          <p:nvPr/>
        </p:nvSpPr>
        <p:spPr>
          <a:xfrm>
            <a:off x="1207008" y="3840480"/>
            <a:ext cx="60351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84473"/>
                </a:solidFill>
                <a:latin typeface="Arial"/>
                <a:ea typeface="Arial"/>
                <a:cs typeface="Arial"/>
                <a:sym typeface="Arial"/>
              </a:rPr>
              <a:t>Department of Consumer Affairs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0" name="Google Shape;18620;p6"/>
          <p:cNvSpPr txBox="1"/>
          <p:nvPr/>
        </p:nvSpPr>
        <p:spPr>
          <a:xfrm>
            <a:off x="1207008" y="4114800"/>
            <a:ext cx="6035100" cy="5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The Legal Metrology Act, 2009 and the Legal Metrology (General) Rules, 2011 resource page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1" name="Google Shape;18621;p6"/>
          <p:cNvSpPr txBox="1"/>
          <p:nvPr/>
        </p:nvSpPr>
        <p:spPr>
          <a:xfrm>
            <a:off x="7360920" y="3913631"/>
            <a:ext cx="4160400" cy="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9B4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69B4"/>
                </a:solidFill>
                <a:latin typeface="Arial"/>
                <a:ea typeface="Arial"/>
                <a:cs typeface="Arial"/>
                <a:sym typeface="Arial"/>
              </a:rPr>
              <a:t>https://consumeraffairs.gov.in/index.php/pages/legal-metrology-act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2" name="Google Shape;18622;p6"/>
          <p:cNvSpPr/>
          <p:nvPr/>
        </p:nvSpPr>
        <p:spPr>
          <a:xfrm>
            <a:off x="658368" y="4636008"/>
            <a:ext cx="420600" cy="420600"/>
          </a:xfrm>
          <a:prstGeom prst="ellipse">
            <a:avLst/>
          </a:prstGeom>
          <a:solidFill>
            <a:srgbClr val="18447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3" name="Google Shape;18623;p6"/>
          <p:cNvSpPr txBox="1"/>
          <p:nvPr/>
        </p:nvSpPr>
        <p:spPr>
          <a:xfrm>
            <a:off x="1207008" y="4617720"/>
            <a:ext cx="60351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84473"/>
                </a:solidFill>
                <a:latin typeface="Arial"/>
                <a:ea typeface="Arial"/>
                <a:cs typeface="Arial"/>
                <a:sym typeface="Arial"/>
              </a:rPr>
              <a:t>Legal Metrology (General) Rules – official material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4" name="Google Shape;18624;p6"/>
          <p:cNvSpPr txBox="1"/>
          <p:nvPr/>
        </p:nvSpPr>
        <p:spPr>
          <a:xfrm>
            <a:off x="1207008" y="4892040"/>
            <a:ext cx="6035100" cy="5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2B34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Verification/re-verification and certificate framework; model certificate includes next verification due date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5" name="Google Shape;18625;p6"/>
          <p:cNvSpPr txBox="1"/>
          <p:nvPr/>
        </p:nvSpPr>
        <p:spPr>
          <a:xfrm>
            <a:off x="7360920" y="4690872"/>
            <a:ext cx="4160400" cy="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9B4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69B4"/>
                </a:solidFill>
                <a:latin typeface="Arial"/>
                <a:ea typeface="Arial"/>
                <a:cs typeface="Arial"/>
                <a:sym typeface="Arial"/>
              </a:rPr>
              <a:t>https://consumeraffairs.gov.in/public/upload/files/9_1732872040.pdf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6" name="Google Shape;18626;p6"/>
          <p:cNvSpPr/>
          <p:nvPr/>
        </p:nvSpPr>
        <p:spPr>
          <a:xfrm>
            <a:off x="822900" y="5659435"/>
            <a:ext cx="10652700" cy="560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500" cap="flat" cmpd="sng">
            <a:solidFill>
              <a:srgbClr val="23916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27000" tIns="88900" rIns="127000" bIns="76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84473"/>
              </a:buClr>
              <a:buSzPts val="1040"/>
              <a:buFont typeface="Play"/>
              <a:buNone/>
            </a:pPr>
            <a:r>
              <a:rPr lang="en-US" sz="1040" b="1" i="0" u="none" strike="noStrike" cap="none">
                <a:solidFill>
                  <a:srgbClr val="184473"/>
                </a:solidFill>
                <a:latin typeface="Play"/>
                <a:ea typeface="Play"/>
                <a:cs typeface="Play"/>
                <a:sym typeface="Play"/>
              </a:rPr>
              <a:t>SOURCE-TO-SOLUTION LINK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232B34"/>
              </a:buClr>
              <a:buSzPts val="980"/>
              <a:buFont typeface="Arial"/>
              <a:buNone/>
            </a:pPr>
            <a:r>
              <a:rPr lang="en-US" sz="980" b="0" i="0" u="none" strike="noStrike" cap="non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The proposed portal directly operationalizes the PS requirements: online applications, scheduling, digital records/certificates, QR verification, expiry alerts, dashboards, role-based security and mobile field support.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7" name="Google Shape;18627;p6" descr="Your startup LOGO"/>
          <p:cNvSpPr/>
          <p:nvPr/>
        </p:nvSpPr>
        <p:spPr>
          <a:xfrm>
            <a:off x="329775" y="252250"/>
            <a:ext cx="2058300" cy="8115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Byte</a:t>
            </a:r>
            <a:r>
              <a:rPr lang="en-US" sz="1600" b="1" dirty="0">
                <a:solidFill>
                  <a:schemeClr val="dk1"/>
                </a:solidFill>
              </a:rPr>
              <a:t>Optima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724</Words>
  <PresentationFormat>Custom</PresentationFormat>
  <Paragraphs>166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cp:lastModifiedBy>hamed kareem</cp:lastModifiedBy>
  <cp:revision>1</cp:revision>
  <dcterms:modified xsi:type="dcterms:W3CDTF">2026-10-05T19:40:57Z</dcterms:modified>
</cp:coreProperties>
</file>